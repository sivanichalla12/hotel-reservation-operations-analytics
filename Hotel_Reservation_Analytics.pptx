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32FCC18-3AF1-7B17-F631-72E5B72A4137}">
          <p14:sldIdLst>
            <p14:sldId id="256"/>
            <p14:sldId id="257"/>
            <p14:sldId id="258"/>
          </p14:sldIdLst>
        </p14:section>
        <p14:section name="Context" id="{B9A8EC97-96AC-892E-0257-A7A1DFB5265B}">
          <p14:sldIdLst>
            <p14:sldId id="259"/>
            <p14:sldId id="260"/>
            <p14:sldId id="261"/>
            <p14:sldId id="262"/>
          </p14:sldIdLst>
        </p14:section>
        <p14:section name="Data &amp; Dashboard" id="{EA2F5452-2419-B37E-3ADB-1C74D70B785C}">
          <p14:sldIdLst>
            <p14:sldId id="263"/>
            <p14:sldId id="264"/>
            <p14:sldId id="265"/>
          </p14:sldIdLst>
        </p14:section>
        <p14:section name="Analysis" id="{0939E47A-C3B5-4EC7-A543-C9FFA200AE28}">
          <p14:sldIdLst>
            <p14:sldId id="266"/>
            <p14:sldId id="267"/>
            <p14:sldId id="268"/>
            <p14:sldId id="269"/>
          </p14:sldIdLst>
        </p14:section>
        <p14:section name="Conclusions" id="{9506DF97-2AA2-7AA4-32F8-6DB38B4A01A8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10D89-397F-42CD-B72D-F7026B1575B3}" v="3" dt="2026-10-27T06:59:03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ni Challa" userId="b7aba7850f583140" providerId="LiveId" clId="{F011CCF1-B13C-41B0-B5B5-FDD71405C85D}"/>
    <pc:docChg chg="modSld">
      <pc:chgData name="Sivani Challa" userId="b7aba7850f583140" providerId="LiveId" clId="{F011CCF1-B13C-41B0-B5B5-FDD71405C85D}" dt="2026-10-27T06:59:27.296" v="2" actId="207"/>
      <pc:docMkLst>
        <pc:docMk/>
      </pc:docMkLst>
      <pc:sldChg chg="modSp mod">
        <pc:chgData name="Sivani Challa" userId="b7aba7850f583140" providerId="LiveId" clId="{F011CCF1-B13C-41B0-B5B5-FDD71405C85D}" dt="2026-10-27T06:59:27.296" v="2" actId="207"/>
        <pc:sldMkLst>
          <pc:docMk/>
          <pc:sldMk cId="0" sldId="257"/>
        </pc:sldMkLst>
        <pc:spChg chg="mod">
          <ac:chgData name="Sivani Challa" userId="b7aba7850f583140" providerId="LiveId" clId="{F011CCF1-B13C-41B0-B5B5-FDD71405C85D}" dt="2026-10-27T06:59:27.296" v="2" actId="207"/>
          <ac:spMkLst>
            <pc:docMk/>
            <pc:sldMk cId="0" sldId="257"/>
            <ac:spMk id="16" creationId="{06B9D52A-FC73-C8F0-8D51-BD54C834DB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13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736592"/>
            <a:ext cx="1280160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alla-sivani-48780337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 title"/>
          <p:cNvSpPr txBox="1"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Hotel Reservation Operations Analytics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About Me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Profile text"/>
          <p:cNvSpPr txBox="1"/>
          <p:nvPr/>
        </p:nvSpPr>
        <p:spPr>
          <a:xfrm>
            <a:off x="731520" y="13258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248443" y="12115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6459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9D52A-FC73-C8F0-8D51-BD54C834DBE7}"/>
              </a:ext>
            </a:extLst>
          </p:cNvPr>
          <p:cNvSpPr txBox="1"/>
          <p:nvPr/>
        </p:nvSpPr>
        <p:spPr>
          <a:xfrm>
            <a:off x="562708" y="991772"/>
            <a:ext cx="81240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SIVANI CHALLA</a:t>
            </a:r>
          </a:p>
          <a:p>
            <a:pPr marL="114300" indent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in Computer Science and Engineering</a:t>
            </a:r>
          </a:p>
          <a:p>
            <a:pPr marL="114300" indent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Science? :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build strong analytical skills, work with real-world data, and solve business problems using data-driven Insights and machine learning.</a:t>
            </a:r>
          </a:p>
          <a:p>
            <a:pPr marL="114300" indent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</a:t>
            </a:r>
          </a:p>
          <a:p>
            <a:pPr marL="114300" indent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 :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https://www.linkedin.com/in/challa-sivani-487803372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Table of Contents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OC badg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OC badge 2"/>
          <p:cNvSpPr/>
          <p:nvPr/>
        </p:nvSpPr>
        <p:spPr>
          <a:xfrm>
            <a:off x="457200" y="1709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09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OC badge 3"/>
          <p:cNvSpPr/>
          <p:nvPr/>
        </p:nvSpPr>
        <p:spPr>
          <a:xfrm>
            <a:off x="457200" y="22768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72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OC badge 4"/>
          <p:cNvSpPr/>
          <p:nvPr/>
        </p:nvSpPr>
        <p:spPr>
          <a:xfrm>
            <a:off x="457200" y="28437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8437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OC badge 5"/>
          <p:cNvSpPr/>
          <p:nvPr/>
        </p:nvSpPr>
        <p:spPr>
          <a:xfrm>
            <a:off x="457200" y="34107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5720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410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 &amp; Metrics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OC badge 6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77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Summary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OC badge 7"/>
          <p:cNvSpPr/>
          <p:nvPr/>
        </p:nvSpPr>
        <p:spPr>
          <a:xfrm>
            <a:off x="466344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634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11430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OC badge 8"/>
          <p:cNvSpPr/>
          <p:nvPr/>
        </p:nvSpPr>
        <p:spPr>
          <a:xfrm>
            <a:off x="4663440" y="1709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46634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1709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 Trends &amp; Demand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OC badge 9"/>
          <p:cNvSpPr/>
          <p:nvPr/>
        </p:nvSpPr>
        <p:spPr>
          <a:xfrm>
            <a:off x="4663440" y="22768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66344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&amp; Guest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OC badge 10"/>
          <p:cNvSpPr/>
          <p:nvPr/>
        </p:nvSpPr>
        <p:spPr>
          <a:xfrm>
            <a:off x="4663440" y="28437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6634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212080" y="28437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OC badge 11"/>
          <p:cNvSpPr/>
          <p:nvPr/>
        </p:nvSpPr>
        <p:spPr>
          <a:xfrm>
            <a:off x="4663440" y="34107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6634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3410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OC badge 12"/>
          <p:cNvSpPr/>
          <p:nvPr/>
        </p:nvSpPr>
        <p:spPr>
          <a:xfrm>
            <a:off x="4663440" y="3977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6634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212080" y="3977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an interactive </a:t>
            </a: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analyze reservation operations across the </a:t>
            </a: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StayPoint</a:t>
            </a: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hotel chain.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Modelled four linked tables — </a:t>
            </a: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bookings, hotels, guests and stays</a:t>
            </a: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and created DAX measures for revenue, bookings, guests, stays, nights and average booking value.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visuals for </a:t>
            </a: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demand, room-type mix, booking channels, hotel revenue, stay outcomes and loyalty tiers</a:t>
            </a: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 slicers for </a:t>
            </a: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hotel, booking channel and booking date</a:t>
            </a: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 managers can explore any slice of the business.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findings into </a:t>
            </a:r>
            <a:r>
              <a:rPr lang="en-US" sz="15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 and recommendations</a:t>
            </a:r>
            <a:r>
              <a:rPr lang="en-US" sz="15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revenue and occupancy growth.</a:t>
            </a:r>
          </a:p>
        </p:txBody>
      </p:sp>
      <p:sp>
        <p:nvSpPr>
          <p:cNvPr id="4" name="Stat card"/>
          <p:cNvSpPr/>
          <p:nvPr/>
        </p:nvSpPr>
        <p:spPr>
          <a:xfrm>
            <a:off x="5943600" y="11430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2648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45.82M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12648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126480" y="23042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2,800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126480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Bookings analyzed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126480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126480" y="3877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Workflow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tep card 1"/>
          <p:cNvSpPr/>
          <p:nvPr/>
        </p:nvSpPr>
        <p:spPr>
          <a:xfrm>
            <a:off x="45720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tep badge 1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4360" y="2075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booking, hotel, guest and stay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tep card 2"/>
          <p:cNvSpPr/>
          <p:nvPr/>
        </p:nvSpPr>
        <p:spPr>
          <a:xfrm>
            <a:off x="2542032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tep badge 2"/>
          <p:cNvSpPr/>
          <p:nvPr/>
        </p:nvSpPr>
        <p:spPr>
          <a:xfrm>
            <a:off x="2679192" y="1325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79192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679192" y="2075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tables into Power BI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tep card 3"/>
          <p:cNvSpPr/>
          <p:nvPr/>
        </p:nvSpPr>
        <p:spPr>
          <a:xfrm>
            <a:off x="4626864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tep badge 3"/>
          <p:cNvSpPr/>
          <p:nvPr/>
        </p:nvSpPr>
        <p:spPr>
          <a:xfrm>
            <a:off x="4764024" y="1325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764024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764024" y="2075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 types, blanks and inconsistent values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tep card 4"/>
          <p:cNvSpPr/>
          <p:nvPr/>
        </p:nvSpPr>
        <p:spPr>
          <a:xfrm>
            <a:off x="6711696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tep badge 4"/>
          <p:cNvSpPr/>
          <p:nvPr/>
        </p:nvSpPr>
        <p:spPr>
          <a:xfrm>
            <a:off x="6848856" y="13258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48856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848856" y="2075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 tables with keys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tep card 5"/>
          <p:cNvSpPr/>
          <p:nvPr/>
        </p:nvSpPr>
        <p:spPr>
          <a:xfrm>
            <a:off x="45720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tep badge 5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94360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revenue, booking and stay KPIs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tep card 6"/>
          <p:cNvSpPr/>
          <p:nvPr/>
        </p:nvSpPr>
        <p:spPr>
          <a:xfrm>
            <a:off x="2542032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tep badge 6"/>
          <p:cNvSpPr/>
          <p:nvPr/>
        </p:nvSpPr>
        <p:spPr>
          <a:xfrm>
            <a:off x="2679192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679192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679192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2679192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charts, cards and slicers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tep card 7"/>
          <p:cNvSpPr/>
          <p:nvPr/>
        </p:nvSpPr>
        <p:spPr>
          <a:xfrm>
            <a:off x="4626864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tep badge 7"/>
          <p:cNvSpPr/>
          <p:nvPr/>
        </p:nvSpPr>
        <p:spPr>
          <a:xfrm>
            <a:off x="4764024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764024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764024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4764024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trends and patterns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tep card 8"/>
          <p:cNvSpPr/>
          <p:nvPr/>
        </p:nvSpPr>
        <p:spPr>
          <a:xfrm>
            <a:off x="6711696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tep badge 8"/>
          <p:cNvSpPr/>
          <p:nvPr/>
        </p:nvSpPr>
        <p:spPr>
          <a:xfrm>
            <a:off x="6848856" y="30175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848856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48856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848856" y="3767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 insights into actions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Business Scenario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ullets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StayPoint</a:t>
            </a:r>
            <a:r>
              <a:rPr 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operates multiple hotels across Indian cities, receiving bookings through the website, mobile app, travel agents, phone and walk-ins.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Managers need one place to see </a:t>
            </a:r>
            <a:r>
              <a:rPr lang="en-US" sz="17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revenue, demand and guest behaviour</a:t>
            </a:r>
            <a:r>
              <a:rPr 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instead of reviewing scattered reports.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Cancellations and no-shows </a:t>
            </a:r>
            <a:r>
              <a:rPr lang="en-US" sz="17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leave rooms empty</a:t>
            </a:r>
            <a:r>
              <a:rPr 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reduce revenue, while the mix of channels and room types affects pricing and staffing.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clear view of </a:t>
            </a:r>
            <a:r>
              <a:rPr lang="en-US" sz="17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seasonality, top hotels and loyalty</a:t>
            </a:r>
            <a:r>
              <a:rPr lang="en-US" sz="17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helps teams plan inventory, promotions and customer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Business Objective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ive card 1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Measure performance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revenue, bookings, guests, stays and nights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ive card 2"/>
          <p:cNvSpPr/>
          <p:nvPr/>
        </p:nvSpPr>
        <p:spPr>
          <a:xfrm>
            <a:off x="3264408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47288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Understand demand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47288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peak months, popular rooms and key channels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ive card 3"/>
          <p:cNvSpPr/>
          <p:nvPr/>
        </p:nvSpPr>
        <p:spPr>
          <a:xfrm>
            <a:off x="6071616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54496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Compare hotels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54496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and under-performing properties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ive card 4"/>
          <p:cNvSpPr/>
          <p:nvPr/>
        </p:nvSpPr>
        <p:spPr>
          <a:xfrm>
            <a:off x="457200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Reduce leakage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cancellations and no-shows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ive card 5"/>
          <p:cNvSpPr/>
          <p:nvPr/>
        </p:nvSpPr>
        <p:spPr>
          <a:xfrm>
            <a:off x="3264408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447288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Grow loyalty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447288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guest loyalty tiers for retention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ive card 6"/>
          <p:cNvSpPr/>
          <p:nvPr/>
        </p:nvSpPr>
        <p:spPr>
          <a:xfrm>
            <a:off x="6071616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54496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Support decisions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254496" y="3429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managers actionable recommendations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Model &amp; Metrics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and key fields</a:t>
            </a:r>
            <a:endParaRPr 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253145"/>
              </p:ext>
            </p:extLst>
          </p:nvPr>
        </p:nvGraphicFramePr>
        <p:xfrm>
          <a:off x="457200" y="1463040"/>
          <a:ext cx="3931920" cy="22860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date, channel, room type requested, revenue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 name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guests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Loyalty tier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stays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Stay status and nights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  <a:endParaRPr 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14261"/>
              </p:ext>
            </p:extLst>
          </p:nvPr>
        </p:nvGraphicFramePr>
        <p:xfrm>
          <a:off x="4754880" y="1463040"/>
          <a:ext cx="3931920" cy="268833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1E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1E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Revenue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 of booking revenue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Bookings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reservations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Guests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guests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Stays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stays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Nights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Nights stayed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 Booking Value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per booking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KPI Summary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KPI card Total Revenue"/>
          <p:cNvSpPr/>
          <p:nvPr/>
        </p:nvSpPr>
        <p:spPr>
          <a:xfrm>
            <a:off x="457200" y="1188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45.82M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KPI card Total Bookings"/>
          <p:cNvSpPr/>
          <p:nvPr/>
        </p:nvSpPr>
        <p:spPr>
          <a:xfrm>
            <a:off x="3264408" y="1188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47288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2,800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47288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Bookings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KPI card Total Guests"/>
          <p:cNvSpPr/>
          <p:nvPr/>
        </p:nvSpPr>
        <p:spPr>
          <a:xfrm>
            <a:off x="6071616" y="11887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254496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54496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Guests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KPI card Total Stays"/>
          <p:cNvSpPr/>
          <p:nvPr/>
        </p:nvSpPr>
        <p:spPr>
          <a:xfrm>
            <a:off x="457200" y="27889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3K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400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Stays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KPI card Average Booking Value"/>
          <p:cNvSpPr/>
          <p:nvPr/>
        </p:nvSpPr>
        <p:spPr>
          <a:xfrm>
            <a:off x="3264408" y="27889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447288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16.37K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447288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Booking Value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KPI card Total Nights Stayed"/>
          <p:cNvSpPr/>
          <p:nvPr/>
        </p:nvSpPr>
        <p:spPr>
          <a:xfrm>
            <a:off x="6071616" y="27889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254496" y="2971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7K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254496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Nights Stayed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Power BI Dashboard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649224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dashboard covers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shboard notes"/>
          <p:cNvSpPr txBox="1"/>
          <p:nvPr/>
        </p:nvSpPr>
        <p:spPr>
          <a:xfrm>
            <a:off x="6492240" y="150876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Slicers: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hotel, booking channel, booking date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Demand: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monthly bookings, room types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Sales: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by hotel, channels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Guests: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stay status, loyalty tiers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C6D3DE-674F-F46B-B11D-50B8CCF5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07" y="1033975"/>
            <a:ext cx="6048612" cy="36013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Booking Trends: Monthly Demand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servation card"/>
          <p:cNvSpPr/>
          <p:nvPr/>
        </p:nvSpPr>
        <p:spPr>
          <a:xfrm>
            <a:off x="6126480" y="1097280"/>
            <a:ext cx="2560320" cy="3474720"/>
          </a:xfrm>
          <a:prstGeom prst="roundRect">
            <a:avLst>
              <a:gd name="adj" fmla="val 2857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servations"/>
          <p:cNvSpPr txBox="1"/>
          <p:nvPr/>
        </p:nvSpPr>
        <p:spPr>
          <a:xfrm>
            <a:off x="6309360" y="16459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peaks in May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316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half of the year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strongest, then bookings fall steadily.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December is lowest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147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bookings, about half of the May peak.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B5FF81-E087-84B2-6709-DB49B195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1685"/>
            <a:ext cx="5226148" cy="33903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Room Types &amp; Booking Channels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akeaway room"/>
          <p:cNvSpPr/>
          <p:nvPr/>
        </p:nvSpPr>
        <p:spPr>
          <a:xfrm>
            <a:off x="457200" y="39319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akeaway channel"/>
          <p:cNvSpPr/>
          <p:nvPr/>
        </p:nvSpPr>
        <p:spPr>
          <a:xfrm>
            <a:off x="4663440" y="39319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9436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rooms are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45%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requests; Executive only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9%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 4"/>
          <p:cNvSpPr txBox="1"/>
          <p:nvPr/>
        </p:nvSpPr>
        <p:spPr>
          <a:xfrm>
            <a:off x="480060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with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35%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with the app,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two-thirds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bookings are online</a:t>
            </a: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98AF46-2C5D-EC5B-DFD2-4E673834B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7300"/>
            <a:ext cx="3966546" cy="24231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EFF92F-5C57-F925-29C6-91E3BC5ED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256" y="1257300"/>
            <a:ext cx="3966546" cy="24231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Revenue by Hotel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servation card"/>
          <p:cNvSpPr/>
          <p:nvPr/>
        </p:nvSpPr>
        <p:spPr>
          <a:xfrm>
            <a:off x="6126480" y="1097280"/>
            <a:ext cx="2560320" cy="3520440"/>
          </a:xfrm>
          <a:prstGeom prst="roundRect">
            <a:avLst>
              <a:gd name="adj" fmla="val 2857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309360" y="1234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US" sz="1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servations"/>
          <p:cNvSpPr txBox="1"/>
          <p:nvPr/>
        </p:nvSpPr>
        <p:spPr>
          <a:xfrm>
            <a:off x="6309360" y="16459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 Grand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 Residency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 with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3.8M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 properties fill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of the top 4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places.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hotels earn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1.9M–2.3M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roughly half of the leaders.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B12DEE-CB04-A4A8-E575-2CD354811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2" y="1097280"/>
            <a:ext cx="5390044" cy="344658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Stay Outcomes &amp; Loyalty Tiers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akeaway status"/>
          <p:cNvSpPr/>
          <p:nvPr/>
        </p:nvSpPr>
        <p:spPr>
          <a:xfrm>
            <a:off x="457200" y="39319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akeaway loyalty"/>
          <p:cNvSpPr/>
          <p:nvPr/>
        </p:nvSpPr>
        <p:spPr>
          <a:xfrm>
            <a:off x="4663440" y="39319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9436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66%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checked out;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cancellations + no-shows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 up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~32%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 4"/>
          <p:cNvSpPr txBox="1"/>
          <p:nvPr/>
        </p:nvSpPr>
        <p:spPr>
          <a:xfrm>
            <a:off x="4800600" y="3931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148 of 350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guests (42%) have an </a:t>
            </a:r>
            <a:r>
              <a:rPr lang="en-US" sz="13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en-US" sz="13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loyalty tier.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1BE24A-D233-2281-46AC-10B54A2BA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873035" cy="26974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16D014-7E92-F53F-0E99-72500769B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764" y="1097280"/>
            <a:ext cx="3873036" cy="26974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Overall Key Findings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Bullets"/>
          <p:cNvSpPr txBox="1"/>
          <p:nvPr/>
        </p:nvSpPr>
        <p:spPr>
          <a:xfrm>
            <a:off x="457200" y="114300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chain generated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45.82M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revenue from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2,800 bookings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an average booking value of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16.37K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is highest in the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half of the year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peaking in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(316 bookings).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rooms are requested most; the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leading channel (35%).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StayPoint Mumbai Grand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 Residency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earn the most revenue (3.8M each).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66%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stays are checked out;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cancellations and no-shows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 for nearly one-third.</a:t>
            </a:r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guests sit in the </a:t>
            </a:r>
            <a:r>
              <a:rPr lang="en-US" sz="1800" b="1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  <a:r>
              <a:rPr lang="en-US" sz="1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loyalty tier — a clear opportunity to grow the loyalty program</a:t>
            </a:r>
            <a:r>
              <a:rPr lang="en-US" sz="18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Business Recommendations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ommendation card 1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ec badge 1"/>
          <p:cNvSpPr/>
          <p:nvPr/>
        </p:nvSpPr>
        <p:spPr>
          <a:xfrm>
            <a:off x="640080" y="13533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53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Grow online bookings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the website and offer exclusive digital promotions.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ommendation card 2"/>
          <p:cNvSpPr/>
          <p:nvPr/>
        </p:nvSpPr>
        <p:spPr>
          <a:xfrm>
            <a:off x="3264408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Rec badge 2"/>
          <p:cNvSpPr/>
          <p:nvPr/>
        </p:nvSpPr>
        <p:spPr>
          <a:xfrm>
            <a:off x="3447288" y="13533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447288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04488" y="1353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Optimize pricing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447288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promotions to lift occupancy of premium room types.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ommendation card 3"/>
          <p:cNvSpPr/>
          <p:nvPr/>
        </p:nvSpPr>
        <p:spPr>
          <a:xfrm>
            <a:off x="6071616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 badge 3"/>
          <p:cNvSpPr/>
          <p:nvPr/>
        </p:nvSpPr>
        <p:spPr>
          <a:xfrm>
            <a:off x="6254496" y="13533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54496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1353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Cut cancellations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54496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booking reminders and confirmation notifications.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ommendation card 4"/>
          <p:cNvSpPr/>
          <p:nvPr/>
        </p:nvSpPr>
        <p:spPr>
          <a:xfrm>
            <a:off x="457200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Rec badge 4"/>
          <p:cNvSpPr/>
          <p:nvPr/>
        </p:nvSpPr>
        <p:spPr>
          <a:xfrm>
            <a:off x="640080" y="299923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29992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Replicate success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008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top-hotel strategies to lower-performing properties.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ommendation card 5"/>
          <p:cNvSpPr/>
          <p:nvPr/>
        </p:nvSpPr>
        <p:spPr>
          <a:xfrm>
            <a:off x="3264408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 badge 5"/>
          <p:cNvSpPr/>
          <p:nvPr/>
        </p:nvSpPr>
        <p:spPr>
          <a:xfrm>
            <a:off x="3447288" y="299923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44728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04488" y="29992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Expand loyalty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447288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 more guests to improve retention and repeat bookings.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ommendation card 6"/>
          <p:cNvSpPr/>
          <p:nvPr/>
        </p:nvSpPr>
        <p:spPr>
          <a:xfrm>
            <a:off x="6071616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9525">
            <a:solidFill>
              <a:srgbClr val="E6DCDC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Rec badge 6"/>
          <p:cNvSpPr/>
          <p:nvPr/>
        </p:nvSpPr>
        <p:spPr>
          <a:xfrm>
            <a:off x="6254496" y="299923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254496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11696" y="29992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Plan for peaks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254496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 staff and room availability with seasonal demand.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255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652954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This project turned StayPoint's reservation data into an interactive Power BI dashboard covering revenue, bookings, guests, stays and nights. The analysis showed strong online demand, a May peak, Mumbai hotels as top earners, and meaningful losses from cancellations and no-shows. Acting on these insights — better digital promotion, reminders, loyalty growth and seasonal planning — can improve occupancy, revenue and guest retention.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737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THANK YOU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Handshake" descr="Handshak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97280"/>
            <a:ext cx="3291840" cy="2089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ayPoint Red">
  <a:themeElements>
    <a:clrScheme name="StayPoint Red">
      <a:dk1>
        <a:srgbClr val="1A1A1A"/>
      </a:dk1>
      <a:lt1>
        <a:srgbClr val="FFFFFF"/>
      </a:lt1>
      <a:dk2>
        <a:srgbClr val="8B0A1A"/>
      </a:dk2>
      <a:lt2>
        <a:srgbClr val="F7F2F2"/>
      </a:lt2>
      <a:accent1>
        <a:srgbClr val="D91E2A"/>
      </a:accent1>
      <a:accent2>
        <a:srgbClr val="3A3A3A"/>
      </a:accent2>
      <a:accent3>
        <a:srgbClr val="F08A8F"/>
      </a:accent3>
      <a:accent4>
        <a:srgbClr val="7A7A7A"/>
      </a:accent4>
      <a:accent5>
        <a:srgbClr val="BDBDBD"/>
      </a:accent5>
      <a:accent6>
        <a:srgbClr val="8B0A1A"/>
      </a:accent6>
      <a:hlink>
        <a:srgbClr val="D91E2A"/>
      </a:hlink>
      <a:folHlink>
        <a:srgbClr val="7A7A7A"/>
      </a:folHlink>
    </a:clrScheme>
    <a:fontScheme name="StayPoint R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982</Words>
  <Application>Microsoft Office PowerPoint</Application>
  <PresentationFormat>On-screen Show (16:9)</PresentationFormat>
  <Paragraphs>201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StayPoint 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Reservation Operations Analytics</dc:title>
  <dc:subject>PptxGenJS Presentation</dc:subject>
  <dc:creator>Sivani Challa</dc:creator>
  <cp:lastModifiedBy>Sivani Challa</cp:lastModifiedBy>
  <cp:revision>6</cp:revision>
  <dcterms:created xsi:type="dcterms:W3CDTF">2026-10-26T17:39:52Z</dcterms:created>
  <dcterms:modified xsi:type="dcterms:W3CDTF">2026-10-27T06:59:35Z</dcterms:modified>
</cp:coreProperties>
</file>